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24" r:id="rId5"/>
    <p:sldId id="302" r:id="rId6"/>
    <p:sldId id="315" r:id="rId7"/>
    <p:sldId id="294" r:id="rId8"/>
    <p:sldId id="295" r:id="rId9"/>
    <p:sldId id="328" r:id="rId10"/>
    <p:sldId id="330" r:id="rId11"/>
    <p:sldId id="331" r:id="rId12"/>
    <p:sldId id="332" r:id="rId13"/>
    <p:sldId id="33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5/4/2026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5/4/2026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Hexagon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Hexagon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Oval 2" descr="Tall office building looking up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ontent Placeholder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Content Placeholder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2" name="Content Placeholder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3" name="Content Placeholder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4" name="Content Placeholder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5" name="Content Placeholder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Hexagon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Hexagon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5/4/2026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printables.com/model/951825-propeller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ektronikpraxis.vogel.de/die-kraft-des-wassers-100-jahre-kaplan-turbine-a-875946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12" descr="Blue glass building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Hexagon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6845" y="1998362"/>
            <a:ext cx="3924935" cy="1695637"/>
          </a:xfrm>
        </p:spPr>
        <p:txBody>
          <a:bodyPr/>
          <a:lstStyle/>
          <a:p>
            <a:r>
              <a:rPr lang="en-US" sz="2800" dirty="0"/>
              <a:t>DESIGN OF AIRFOIL PROFILE FOR KAPLAN TURBINE BLADES USING PYTHON PROGRAMMING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FFAF4E3-C8A2-4861-A67E-040D885F84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96846" y="1507824"/>
            <a:ext cx="3924934" cy="490538"/>
          </a:xfrm>
        </p:spPr>
        <p:txBody>
          <a:bodyPr/>
          <a:lstStyle/>
          <a:p>
            <a:r>
              <a:rPr lang="en-US" dirty="0"/>
              <a:t>HMFPA  Home Assignment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DF5064-7AAC-4887-9BD5-FB6BC40A67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76568" y="4562168"/>
            <a:ext cx="2230850" cy="1392348"/>
          </a:xfrm>
        </p:spPr>
        <p:txBody>
          <a:bodyPr/>
          <a:lstStyle/>
          <a:p>
            <a:r>
              <a:rPr lang="en-US" sz="1400" b="1" dirty="0"/>
              <a:t>Batch 2 Group 2 </a:t>
            </a:r>
          </a:p>
          <a:p>
            <a:r>
              <a:rPr lang="en-US" sz="1400" dirty="0"/>
              <a:t>Aarya Velankar</a:t>
            </a:r>
          </a:p>
          <a:p>
            <a:r>
              <a:rPr lang="en-US" sz="1400" dirty="0"/>
              <a:t>Tanishq Chavan </a:t>
            </a:r>
          </a:p>
          <a:p>
            <a:r>
              <a:rPr lang="en-US" sz="1400" dirty="0" err="1"/>
              <a:t>Rugwed</a:t>
            </a:r>
            <a:r>
              <a:rPr lang="en-US" sz="1400" dirty="0"/>
              <a:t> </a:t>
            </a:r>
            <a:r>
              <a:rPr lang="en-US" sz="1400" dirty="0" err="1"/>
              <a:t>Ushir</a:t>
            </a:r>
            <a:endParaRPr lang="en-US" sz="1400" dirty="0"/>
          </a:p>
          <a:p>
            <a:r>
              <a:rPr lang="en-US" sz="1400" dirty="0"/>
              <a:t>Krishna Vyas</a:t>
            </a:r>
          </a:p>
          <a:p>
            <a:r>
              <a:rPr lang="en-US" sz="1400" dirty="0"/>
              <a:t>Sarvesh Suryavanshi</a:t>
            </a:r>
          </a:p>
        </p:txBody>
      </p:sp>
      <p:sp>
        <p:nvSpPr>
          <p:cNvPr id="21" name="Hexagon 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Hexagon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82174E-6487-4339-4890-12EF8484B4B0}"/>
              </a:ext>
            </a:extLst>
          </p:cNvPr>
          <p:cNvSpPr txBox="1"/>
          <p:nvPr/>
        </p:nvSpPr>
        <p:spPr>
          <a:xfrm>
            <a:off x="4257368" y="4345858"/>
            <a:ext cx="17009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Guide :</a:t>
            </a:r>
          </a:p>
          <a:p>
            <a:r>
              <a:rPr lang="en-US" sz="1600" dirty="0">
                <a:solidFill>
                  <a:schemeClr val="bg1"/>
                </a:solidFill>
              </a:rPr>
              <a:t>Prof. Dr. Sachin </a:t>
            </a:r>
            <a:r>
              <a:rPr lang="en-US" sz="1600" dirty="0" err="1">
                <a:solidFill>
                  <a:schemeClr val="bg1"/>
                </a:solidFill>
              </a:rPr>
              <a:t>Komble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Literature Review</a:t>
            </a:r>
          </a:p>
          <a:p>
            <a:r>
              <a:rPr lang="en-US" dirty="0"/>
              <a:t>Objective</a:t>
            </a:r>
          </a:p>
          <a:p>
            <a:r>
              <a:rPr lang="en-US" dirty="0"/>
              <a:t>Code</a:t>
            </a:r>
          </a:p>
          <a:p>
            <a:r>
              <a:rPr lang="en-US" dirty="0"/>
              <a:t>Results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41D19237-E4FE-83DC-99A7-C7AE06E1EED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1869" r="11869"/>
          <a:stretch>
            <a:fillRect/>
          </a:stretch>
        </p:blipFill>
        <p:spPr/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7304264-5877-B86E-8215-293D03997641}"/>
              </a:ext>
            </a:extLst>
          </p:cNvPr>
          <p:cNvSpPr/>
          <p:nvPr/>
        </p:nvSpPr>
        <p:spPr>
          <a:xfrm>
            <a:off x="660400" y="6479458"/>
            <a:ext cx="1876323" cy="206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EF53E3-F88C-4203-A489-8C9D57513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F03AADD-A4FE-4CE8-944C-3F9C9777F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Why is Kaplan Turbine Blade Profile Important ?</a:t>
            </a:r>
          </a:p>
          <a:p>
            <a:pPr marL="0" indent="0">
              <a:buNone/>
            </a:pPr>
            <a:r>
              <a:rPr lang="en-US" dirty="0"/>
              <a:t>The Kaplan turbine blade profile is critical because its </a:t>
            </a:r>
            <a:r>
              <a:rPr lang="en-US" dirty="0" err="1"/>
              <a:t>aerofoil</a:t>
            </a:r>
            <a:r>
              <a:rPr lang="en-US" dirty="0"/>
              <a:t> shape generates the lift force necessary for rotation, directly determining the turbine's power output and operational life. Unlike fixed-blade turbines, the Kaplan's profile is often adjustable and highly twisted, allowing it to handle massive water flows at low pressure (low head) with efficiencies often exceeding 90%.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BEBCDE-EA41-83A9-1DFC-9909C67E8CFC}"/>
              </a:ext>
            </a:extLst>
          </p:cNvPr>
          <p:cNvSpPr/>
          <p:nvPr/>
        </p:nvSpPr>
        <p:spPr>
          <a:xfrm>
            <a:off x="660400" y="6449961"/>
            <a:ext cx="1807497" cy="2261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27B1DF21-AC13-C5D6-6D18-6FE2111DDCA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0395" r="3039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EEDAF89-0ECD-416A-93E5-A300FF0B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Literature Review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F23CC9A-1145-A999-CB9D-D4A549FC19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07592"/>
              </p:ext>
            </p:extLst>
          </p:nvPr>
        </p:nvGraphicFramePr>
        <p:xfrm>
          <a:off x="1492864" y="2466749"/>
          <a:ext cx="9206272" cy="3327400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4090219">
                  <a:extLst>
                    <a:ext uri="{9D8B030D-6E8A-4147-A177-3AD203B41FA5}">
                      <a16:colId xmlns:a16="http://schemas.microsoft.com/office/drawing/2014/main" val="2858610612"/>
                    </a:ext>
                  </a:extLst>
                </a:gridCol>
                <a:gridCol w="5116053">
                  <a:extLst>
                    <a:ext uri="{9D8B030D-6E8A-4147-A177-3AD203B41FA5}">
                      <a16:colId xmlns:a16="http://schemas.microsoft.com/office/drawing/2014/main" val="6396552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Research Objectives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Key Findings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584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Extract Airfoil Coordinates: Use Python to solve the mathematical equations for a 4-digit NACA 0012 airfoil to obtain its precise coordinates.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Efficiency and Time Savings: The Python program significantly saves time in calculating, simplifying, and extracting coordinates when compared to manual processes. 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484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Simplify Calculations: Automate and simplify the complex calculations involved in airfoil design compared to manual methods.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Accuracy: The results obtained through the program are accurate and reliable for engineering applications. 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287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​Data Export and Visualization: Generate a systematic graphical representation (graph) of the airfoil and export the resulting coordinates into a CSV file format.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Utility of Libraries: The research highlights the effectiveness of specific Python libraries—NumPy for simplifying equations, Matplotlib for plotting the graphs, and Pandas for exporting data to CSV documents.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94638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6ABF769-0988-8281-9C64-93F7A6E3D26A}"/>
              </a:ext>
            </a:extLst>
          </p:cNvPr>
          <p:cNvSpPr txBox="1"/>
          <p:nvPr/>
        </p:nvSpPr>
        <p:spPr>
          <a:xfrm>
            <a:off x="1492864" y="1700877"/>
            <a:ext cx="9206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Generating the Coordinates and Graph of NACA 00xx AIRFOIL using PYTHON </a:t>
            </a:r>
            <a:endParaRPr lang="en-IN" sz="20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B68E99-3DDA-2319-046B-6E0959AEC6F7}"/>
              </a:ext>
            </a:extLst>
          </p:cNvPr>
          <p:cNvSpPr/>
          <p:nvPr/>
        </p:nvSpPr>
        <p:spPr>
          <a:xfrm>
            <a:off x="678426" y="6469626"/>
            <a:ext cx="1740309" cy="1769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A86A9EC-640F-47FB-AA92-2851B3012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FA1D8D-5D08-95EC-A931-D0C8C9D4C1BD}"/>
              </a:ext>
            </a:extLst>
          </p:cNvPr>
          <p:cNvSpPr txBox="1"/>
          <p:nvPr/>
        </p:nvSpPr>
        <p:spPr>
          <a:xfrm>
            <a:off x="1425677" y="1870203"/>
            <a:ext cx="89670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Python to write a code for airfoil design of NACA airfoils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Take user inputs related to the Kaplan Turbine to generate a 5 plots for airfoil design of propeller blades of Kaplan turbine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inputs include ;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NACA Airfoil number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Power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Overall Efficiency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Angle of Attack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No. of Blades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Available Head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the generated plots to extrude a proper blade in CAD which will be used for the Kaplan turbine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626DE1-B025-BDC4-35F1-E0899A2F40ED}"/>
              </a:ext>
            </a:extLst>
          </p:cNvPr>
          <p:cNvSpPr/>
          <p:nvPr/>
        </p:nvSpPr>
        <p:spPr>
          <a:xfrm>
            <a:off x="747252" y="6489290"/>
            <a:ext cx="1671483" cy="176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5421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06964-64D9-9D71-55BA-8821A5F06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4784BE7-BB68-E79D-7A57-948B9FA3E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095E17-F084-4F8B-E063-288D8835F5D1}"/>
              </a:ext>
            </a:extLst>
          </p:cNvPr>
          <p:cNvSpPr/>
          <p:nvPr/>
        </p:nvSpPr>
        <p:spPr>
          <a:xfrm>
            <a:off x="747252" y="6489290"/>
            <a:ext cx="1671483" cy="176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5418CA-C786-414D-C662-E928F01B4980}"/>
              </a:ext>
            </a:extLst>
          </p:cNvPr>
          <p:cNvSpPr txBox="1"/>
          <p:nvPr/>
        </p:nvSpPr>
        <p:spPr>
          <a:xfrm>
            <a:off x="838200" y="1474838"/>
            <a:ext cx="4463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Code for NACA airfoil making in Python</a:t>
            </a: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EEE210-904C-4ABC-D222-FB71079CBD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065" y="2128629"/>
            <a:ext cx="4001058" cy="42258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DB4F58-9607-1BFC-4503-993CEA31C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2045" y="2128629"/>
            <a:ext cx="2695562" cy="28852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71914E-BB35-E227-0626-ED3DD70DD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9317" y="2128629"/>
            <a:ext cx="3249226" cy="35756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6A6CC7B-E79D-38D0-7DAC-F5B803824901}"/>
              </a:ext>
            </a:extLst>
          </p:cNvPr>
          <p:cNvSpPr txBox="1"/>
          <p:nvPr/>
        </p:nvSpPr>
        <p:spPr>
          <a:xfrm>
            <a:off x="5302045" y="5704240"/>
            <a:ext cx="595589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Important parts </a:t>
            </a:r>
          </a:p>
          <a:p>
            <a:r>
              <a:rPr lang="en-US" sz="1600" dirty="0"/>
              <a:t>Standard formulas for identifying NACA airfoil convention and calculating chord length , thickness , camber and chamfer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979872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9D0DD-169B-109C-E83C-93D02C8C1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A62C9D0-5562-4F23-9F63-57DE35035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1799AA-64D9-7E06-7AEB-F26172094169}"/>
              </a:ext>
            </a:extLst>
          </p:cNvPr>
          <p:cNvSpPr/>
          <p:nvPr/>
        </p:nvSpPr>
        <p:spPr>
          <a:xfrm>
            <a:off x="747252" y="6489290"/>
            <a:ext cx="1671483" cy="176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A84828-C046-A560-7D8F-EA326E080629}"/>
              </a:ext>
            </a:extLst>
          </p:cNvPr>
          <p:cNvSpPr txBox="1"/>
          <p:nvPr/>
        </p:nvSpPr>
        <p:spPr>
          <a:xfrm>
            <a:off x="541197" y="1582994"/>
            <a:ext cx="30357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Code for user inputs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E13348-8C4B-248E-3129-933FD5D5870B}"/>
              </a:ext>
            </a:extLst>
          </p:cNvPr>
          <p:cNvSpPr txBox="1"/>
          <p:nvPr/>
        </p:nvSpPr>
        <p:spPr>
          <a:xfrm>
            <a:off x="6577262" y="1606142"/>
            <a:ext cx="3166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Code for hydraulic calculations </a:t>
            </a:r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D9AC1C-D660-2075-98AC-1CAB8CFCD2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197" y="2246501"/>
            <a:ext cx="4849134" cy="38025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2BBF50-B107-B082-CA54-F0115D2D3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262" y="2174230"/>
            <a:ext cx="3280960" cy="404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95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1F906-7DC6-3827-8861-E43EFE4EC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D2BA14E-484E-2752-4895-C86DAE9CE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263D20-FEE0-0222-4361-3E5B4918F23E}"/>
              </a:ext>
            </a:extLst>
          </p:cNvPr>
          <p:cNvSpPr/>
          <p:nvPr/>
        </p:nvSpPr>
        <p:spPr>
          <a:xfrm>
            <a:off x="747252" y="6489290"/>
            <a:ext cx="1671483" cy="176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4AD51-8E5E-A5D8-4FB1-BF5E238EED6D}"/>
              </a:ext>
            </a:extLst>
          </p:cNvPr>
          <p:cNvSpPr txBox="1"/>
          <p:nvPr/>
        </p:nvSpPr>
        <p:spPr>
          <a:xfrm>
            <a:off x="541197" y="1272655"/>
            <a:ext cx="3565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Code for blade section generation</a:t>
            </a:r>
            <a:endParaRPr lang="en-IN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D068A7-1B7B-A854-B832-660342E340E0}"/>
              </a:ext>
            </a:extLst>
          </p:cNvPr>
          <p:cNvSpPr txBox="1"/>
          <p:nvPr/>
        </p:nvSpPr>
        <p:spPr>
          <a:xfrm>
            <a:off x="6577262" y="1691148"/>
            <a:ext cx="3166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473781-CEB0-F99C-D160-144C7F62F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265" y="1730208"/>
            <a:ext cx="4277032" cy="46705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A81E8E-D3FC-AD40-31CA-FD2630069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936" y="2011810"/>
            <a:ext cx="2819794" cy="9812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0E00AD-4194-4D99-F0DE-91BD0ABE11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936" y="3299827"/>
            <a:ext cx="3021593" cy="250696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2911144-1F28-F84E-0111-6C799274A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2533" y="2054926"/>
            <a:ext cx="2514951" cy="136226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BA4B912-4684-4B74-2B75-FBB6F461D9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6235" y="3767112"/>
            <a:ext cx="2133898" cy="107647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069C45A4-46B4-2A47-748F-7A951E21232C}"/>
              </a:ext>
            </a:extLst>
          </p:cNvPr>
          <p:cNvSpPr txBox="1"/>
          <p:nvPr/>
        </p:nvSpPr>
        <p:spPr>
          <a:xfrm>
            <a:off x="5761021" y="1335673"/>
            <a:ext cx="588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Code for generating plot and converting into DXF format</a:t>
            </a:r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589DC3-9883-7174-BD74-A50AA649BDA4}"/>
              </a:ext>
            </a:extLst>
          </p:cNvPr>
          <p:cNvSpPr txBox="1"/>
          <p:nvPr/>
        </p:nvSpPr>
        <p:spPr>
          <a:xfrm>
            <a:off x="9231601" y="5053449"/>
            <a:ext cx="258588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The hydraulic properties data , and blade section generation data is converted into plots of sections and converted into CAD – friendly format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2956836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6C771-8945-9962-3356-2A2F32D84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3A15C6-21CB-492F-C338-81396A6AD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7333A2-B18A-3E68-1C8A-B5C9B8654F2A}"/>
              </a:ext>
            </a:extLst>
          </p:cNvPr>
          <p:cNvSpPr/>
          <p:nvPr/>
        </p:nvSpPr>
        <p:spPr>
          <a:xfrm>
            <a:off x="747252" y="6489290"/>
            <a:ext cx="1671483" cy="176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79F8E0-EC1C-B503-7ED0-2A581D515AEE}"/>
              </a:ext>
            </a:extLst>
          </p:cNvPr>
          <p:cNvSpPr txBox="1"/>
          <p:nvPr/>
        </p:nvSpPr>
        <p:spPr>
          <a:xfrm>
            <a:off x="6577262" y="1691148"/>
            <a:ext cx="3166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3E890B-4CCC-D44F-DAEC-EE7DF8F217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821"/>
          <a:stretch>
            <a:fillRect/>
          </a:stretch>
        </p:blipFill>
        <p:spPr>
          <a:xfrm>
            <a:off x="659020" y="2409340"/>
            <a:ext cx="3959942" cy="20393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7E3C3E-B630-B93C-76AE-861939B9438E}"/>
              </a:ext>
            </a:extLst>
          </p:cNvPr>
          <p:cNvSpPr txBox="1"/>
          <p:nvPr/>
        </p:nvSpPr>
        <p:spPr>
          <a:xfrm>
            <a:off x="629264" y="1700980"/>
            <a:ext cx="3166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Plot generated </a:t>
            </a:r>
            <a:endParaRPr lang="en-IN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7BB93F-79A5-CC29-E0F5-236E5EE72B60}"/>
              </a:ext>
            </a:extLst>
          </p:cNvPr>
          <p:cNvSpPr txBox="1"/>
          <p:nvPr/>
        </p:nvSpPr>
        <p:spPr>
          <a:xfrm>
            <a:off x="629264" y="4787687"/>
            <a:ext cx="29005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such plots at an interval of shift in chord angle with X-axis at 30 deg will be generated 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6D88A4-A65B-53CE-2436-BDA8D7296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9620" y="3602158"/>
            <a:ext cx="3068524" cy="27230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3C5ABE2-57DB-5675-BA79-24A2574EE5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1548" y="2568673"/>
            <a:ext cx="3323552" cy="239503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ABC97F6-8A16-7B82-3AF9-AB828868190D}"/>
              </a:ext>
            </a:extLst>
          </p:cNvPr>
          <p:cNvSpPr txBox="1"/>
          <p:nvPr/>
        </p:nvSpPr>
        <p:spPr>
          <a:xfrm>
            <a:off x="5359620" y="1658642"/>
            <a:ext cx="5722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Final Kaplan Turbine CAD using extruded blade sections 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EDA27A-E0BB-6BAC-E811-41BC6317C862}"/>
              </a:ext>
            </a:extLst>
          </p:cNvPr>
          <p:cNvSpPr txBox="1"/>
          <p:nvPr/>
        </p:nvSpPr>
        <p:spPr>
          <a:xfrm>
            <a:off x="8701548" y="5166852"/>
            <a:ext cx="30685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Complex Kaplan turbine blade which is twisted across its height is generated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6593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728E3-AA6C-80A5-3ADF-0DEA7DD4A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DD8443-0427-1CB7-1C12-2D630C853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35981"/>
            <a:ext cx="10515600" cy="700115"/>
          </a:xfrm>
        </p:spPr>
        <p:txBody>
          <a:bodyPr/>
          <a:lstStyle/>
          <a:p>
            <a:r>
              <a:rPr lang="en-US" sz="6600" dirty="0">
                <a:latin typeface="Bauhaus 93" panose="04030905020B02020C02" pitchFamily="82" charset="0"/>
              </a:rPr>
              <a:t>THANK YOU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63A18C-5921-9942-4566-322CD29B979C}"/>
              </a:ext>
            </a:extLst>
          </p:cNvPr>
          <p:cNvSpPr/>
          <p:nvPr/>
        </p:nvSpPr>
        <p:spPr>
          <a:xfrm>
            <a:off x="747252" y="6489290"/>
            <a:ext cx="1671483" cy="176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2A441-8108-FAAF-5D7A-D309EBE77089}"/>
              </a:ext>
            </a:extLst>
          </p:cNvPr>
          <p:cNvSpPr txBox="1"/>
          <p:nvPr/>
        </p:nvSpPr>
        <p:spPr>
          <a:xfrm>
            <a:off x="6577262" y="1691148"/>
            <a:ext cx="3166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6087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16411253_LW_v2" id="{C590A786-F65F-42F6-9E48-12C78E3C86B3}" vid="{FEE92C9D-6350-4ECD-87A4-004D12BB2B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Geometric presentation</Template>
  <TotalTime>76</TotalTime>
  <Words>472</Words>
  <Application>Microsoft Office PowerPoint</Application>
  <PresentationFormat>Widescreen</PresentationFormat>
  <Paragraphs>65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Bauhaus 93</vt:lpstr>
      <vt:lpstr>Calibri</vt:lpstr>
      <vt:lpstr>Calibri Light</vt:lpstr>
      <vt:lpstr>Wingdings</vt:lpstr>
      <vt:lpstr>Office Theme</vt:lpstr>
      <vt:lpstr>DESIGN OF AIRFOIL PROFILE FOR KAPLAN TURBINE BLADES USING PYTHON PROGRAMMING</vt:lpstr>
      <vt:lpstr>Agenda</vt:lpstr>
      <vt:lpstr>Introduction</vt:lpstr>
      <vt:lpstr>Literature Review</vt:lpstr>
      <vt:lpstr>Objectives  </vt:lpstr>
      <vt:lpstr>Code  </vt:lpstr>
      <vt:lpstr>Code  </vt:lpstr>
      <vt:lpstr>Code  </vt:lpstr>
      <vt:lpstr>Results  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Aarya Velankar</dc:creator>
  <cp:lastModifiedBy>Aarya Velankar</cp:lastModifiedBy>
  <cp:revision>2</cp:revision>
  <dcterms:created xsi:type="dcterms:W3CDTF">2026-03-10T06:06:39Z</dcterms:created>
  <dcterms:modified xsi:type="dcterms:W3CDTF">2026-05-04T16:09:32Z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