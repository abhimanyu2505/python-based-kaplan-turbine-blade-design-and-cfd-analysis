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72" r:id="rId7"/>
    <p:sldId id="275" r:id="rId8"/>
    <p:sldId id="276" r:id="rId9"/>
    <p:sldId id="277" r:id="rId10"/>
    <p:sldId id="280" r:id="rId11"/>
    <p:sldId id="281" r:id="rId12"/>
    <p:sldId id="278" r:id="rId13"/>
    <p:sldId id="279" r:id="rId14"/>
    <p:sldId id="274" r:id="rId15"/>
  </p:sldIdLst>
  <p:sldSz cx="9144000" cy="5143500" type="screen16x9"/>
  <p:notesSz cx="6858000" cy="9144000"/>
  <p:embeddedFontLst>
    <p:embeddedFont>
      <p:font typeface="Anton" pitchFamily="2" charset="0"/>
      <p:regular r:id="rId17"/>
    </p:embeddedFont>
    <p:embeddedFont>
      <p:font typeface="Manrope" panose="020B0604020202020204" charset="0"/>
      <p:regular r:id="rId18"/>
      <p:bold r:id="rId19"/>
    </p:embeddedFont>
    <p:embeddedFont>
      <p:font typeface="Manrope ExtraBold" panose="020B0604020202020204" charset="0"/>
      <p:bold r:id="rId20"/>
    </p:embeddedFont>
    <p:embeddedFont>
      <p:font typeface="Manrope Light" panose="020B0604020202020204" charset="0"/>
      <p:regular r:id="rId21"/>
      <p:bold r:id="rId22"/>
    </p:embeddedFont>
    <p:embeddedFont>
      <p:font typeface="Manrope Medium" panose="020B0604020202020204" charset="0"/>
      <p:regular r:id="rId23"/>
      <p:bold r:id="rId24"/>
    </p:embeddedFont>
    <p:embeddedFont>
      <p:font typeface="Manrope SemiBold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F6D9B3-0802-41FC-AE4C-F5073699BA23}">
  <a:tblStyle styleId="{C4F6D9B3-0802-41FC-AE4C-F5073699BA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887a5c47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887a5c47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887a5c4702_0_1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887a5c4702_0_1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887a5c4702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887a5c4702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887a5c4702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887a5c4702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7c7bda253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7c7bda253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ce7e48e6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ce7e48e6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55BBBAB8-CFC9-1007-B7EE-400637BE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ce7e48e6f3_0_0:notes">
            <a:extLst>
              <a:ext uri="{FF2B5EF4-FFF2-40B4-BE49-F238E27FC236}">
                <a16:creationId xmlns:a16="http://schemas.microsoft.com/office/drawing/2014/main" id="{B917F477-82DB-CFED-A3B7-F81F4BE89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ce7e48e6f3_0_0:notes">
            <a:extLst>
              <a:ext uri="{FF2B5EF4-FFF2-40B4-BE49-F238E27FC236}">
                <a16:creationId xmlns:a16="http://schemas.microsoft.com/office/drawing/2014/main" id="{F0EC643A-3AD9-3538-929D-02FA0A079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143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DF2489F0-DB05-C249-70E7-CEFC03D3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e7e48e6f3_0_6:notes">
            <a:extLst>
              <a:ext uri="{FF2B5EF4-FFF2-40B4-BE49-F238E27FC236}">
                <a16:creationId xmlns:a16="http://schemas.microsoft.com/office/drawing/2014/main" id="{F2FB147F-96A5-3413-E065-365E47638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ce7e48e6f3_0_6:notes">
            <a:extLst>
              <a:ext uri="{FF2B5EF4-FFF2-40B4-BE49-F238E27FC236}">
                <a16:creationId xmlns:a16="http://schemas.microsoft.com/office/drawing/2014/main" id="{B1EB0C3A-40D6-69A9-C660-866A93ED2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5474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2A94E91D-56C2-E407-76CD-B89A6A5C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e7e48e6f3_0_6:notes">
            <a:extLst>
              <a:ext uri="{FF2B5EF4-FFF2-40B4-BE49-F238E27FC236}">
                <a16:creationId xmlns:a16="http://schemas.microsoft.com/office/drawing/2014/main" id="{4762FE47-DDF7-F608-E144-0E87BEF21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ce7e48e6f3_0_6:notes">
            <a:extLst>
              <a:ext uri="{FF2B5EF4-FFF2-40B4-BE49-F238E27FC236}">
                <a16:creationId xmlns:a16="http://schemas.microsoft.com/office/drawing/2014/main" id="{FCA958FE-FF64-1024-C884-EB13C7F1D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362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A9135977-B100-99CF-766F-6F6069EFC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e7e48e6f3_0_6:notes">
            <a:extLst>
              <a:ext uri="{FF2B5EF4-FFF2-40B4-BE49-F238E27FC236}">
                <a16:creationId xmlns:a16="http://schemas.microsoft.com/office/drawing/2014/main" id="{16C44CD1-F52A-BFCA-ADD0-54876EB96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ce7e48e6f3_0_6:notes">
            <a:extLst>
              <a:ext uri="{FF2B5EF4-FFF2-40B4-BE49-F238E27FC236}">
                <a16:creationId xmlns:a16="http://schemas.microsoft.com/office/drawing/2014/main" id="{6E5B5666-E5C5-C9A5-073D-C073ADD02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120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66F19149-1A5A-7EAE-AD3F-35FFAAFBB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e7e48e6f3_0_6:notes">
            <a:extLst>
              <a:ext uri="{FF2B5EF4-FFF2-40B4-BE49-F238E27FC236}">
                <a16:creationId xmlns:a16="http://schemas.microsoft.com/office/drawing/2014/main" id="{9DCEA5AB-28A4-7F57-D09C-0653AEDD2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ce7e48e6f3_0_6:notes">
            <a:extLst>
              <a:ext uri="{FF2B5EF4-FFF2-40B4-BE49-F238E27FC236}">
                <a16:creationId xmlns:a16="http://schemas.microsoft.com/office/drawing/2014/main" id="{968A927B-69B3-C1FC-35C8-25C829D40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399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ce82c573cc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3ce82c573cc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ITLE">
  <p:cSld name="BLANK_1_1_1_1_1_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title" idx="2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sz="10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>
            <a:endParaRPr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 idx="3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sz="10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>
            <a:endParaRPr/>
          </a:p>
        </p:txBody>
      </p:sp>
      <p:sp>
        <p:nvSpPr>
          <p:cNvPr id="106" name="Google Shape;106;p2"/>
          <p:cNvSpPr txBox="1">
            <a:spLocks noGrp="1"/>
          </p:cNvSpPr>
          <p:nvPr>
            <p:ph type="subTitle" idx="4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1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name="adj" fmla="val 241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avLst/>
            <a:gdLst/>
            <a:ahLst/>
            <a:cxnLst/>
            <a:rect l="l" t="t" r="r" b="b"/>
            <a:pathLst>
              <a:path w="57150" h="52832" extrusionOk="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">
  <p:cSld name="BLANK_1_1_1_1_1_1_1_1_1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Quarter's Goals">
  <p:cSld name="CUSTOM_1_1_3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body" idx="2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body" idx="3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title" idx="4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 idx="5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title" idx="6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title" idx="7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title" idx="8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title" idx="9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1_1_1_3_1"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6"/>
          <p:cNvSpPr txBox="1">
            <a:spLocks noGrp="1"/>
          </p:cNvSpPr>
          <p:nvPr>
            <p:ph type="body" idx="1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72" name="Google Shape;172;p6"/>
          <p:cNvSpPr txBox="1">
            <a:spLocks noGrp="1"/>
          </p:cNvSpPr>
          <p:nvPr>
            <p:ph type="title" idx="2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3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title" idx="4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sz="6000" b="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 txBox="1">
            <a:spLocks noGrp="1"/>
          </p:cNvSpPr>
          <p:nvPr>
            <p:ph type="title" idx="5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6"/>
          <p:cNvSpPr txBox="1">
            <a:spLocks noGrp="1"/>
          </p:cNvSpPr>
          <p:nvPr>
            <p:ph type="body" idx="6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">
  <p:cSld name="CUSTOM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>
            <a:spLocks noGrp="1"/>
          </p:cNvSpPr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title" idx="2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title" idx="3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16" name="Google Shape;216;p7"/>
          <p:cNvSpPr>
            <a:spLocks noGrp="1"/>
          </p:cNvSpPr>
          <p:nvPr>
            <p:ph type="pic" idx="4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>
            <a:spLocks noGrp="1"/>
          </p:cNvSpPr>
          <p:nvPr>
            <p:ph type="pic" idx="5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>
            <a:spLocks noGrp="1"/>
          </p:cNvSpPr>
          <p:nvPr>
            <p:ph type="pic" idx="6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>
            <a:spLocks noGrp="1"/>
          </p:cNvSpPr>
          <p:nvPr>
            <p:ph type="subTitle" idx="1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subTitle" idx="7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subTitle" idx="8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, body and image">
  <p:cSld name="BLANK_1_1_1_1_1_1_1_1_1_1_1_1"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>
            <a:spLocks noGrp="1"/>
          </p:cNvSpPr>
          <p:nvPr>
            <p:ph type="pic" idx="2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>
            <a:spLocks noGrp="1"/>
          </p:cNvSpPr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body" idx="1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228" name="Google Shape;228;p8"/>
          <p:cNvSpPr txBox="1">
            <a:spLocks noGrp="1"/>
          </p:cNvSpPr>
          <p:nvPr>
            <p:ph type="body" idx="3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BLANK_1_1_1_1_1_1_1_1_1_1_1_1_2_1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>
            <a:spLocks noGrp="1"/>
          </p:cNvSpPr>
          <p:nvPr>
            <p:ph type="pic" idx="2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>
            <a:spLocks noGrp="1"/>
          </p:cNvSpPr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body" idx="1"/>
          </p:nvPr>
        </p:nvSpPr>
        <p:spPr>
          <a:xfrm rot="-131721" flipH="1">
            <a:off x="577990" y="3865770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3">
  <p:cSld name="BLANK_1_1_1_1_1_1_1_1_1_1_1_1_2"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>
            <a:spLocks noGrp="1"/>
          </p:cNvSpPr>
          <p:nvPr>
            <p:ph type="pic" idx="2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>
            <a:spLocks noGrp="1"/>
          </p:cNvSpPr>
          <p:nvPr>
            <p:ph type="body" idx="1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3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Subtitle">
  <p:cSld name="CUSTOM_1_1_3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>
            <a:spLocks noGrp="1"/>
          </p:cNvSpPr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1"/>
          <p:cNvSpPr txBox="1">
            <a:spLocks noGrp="1"/>
          </p:cNvSpPr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>
            <a:spLocks noGrp="1"/>
          </p:cNvSpPr>
          <p:nvPr>
            <p:ph type="body" idx="1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avLst/>
              <a:gdLst/>
              <a:ahLst/>
              <a:cxnLst/>
              <a:rect l="l" t="t" r="r" b="b"/>
              <a:pathLst>
                <a:path w="20117" h="47853" extrusionOk="0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9" name="Google Shape;279;p12"/>
          <p:cNvSpPr txBox="1">
            <a:spLocks noGrp="1"/>
          </p:cNvSpPr>
          <p:nvPr>
            <p:ph type="body" idx="2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280" name="Google Shape;280;p12"/>
          <p:cNvSpPr txBox="1">
            <a:spLocks noGrp="1"/>
          </p:cNvSpPr>
          <p:nvPr>
            <p:ph type="body" idx="3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281" name="Google Shape;281;p12"/>
          <p:cNvSpPr txBox="1">
            <a:spLocks noGrp="1"/>
          </p:cNvSpPr>
          <p:nvPr>
            <p:ph type="body" idx="4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282" name="Google Shape;282;p12"/>
          <p:cNvSpPr txBox="1">
            <a:spLocks noGrp="1"/>
          </p:cNvSpPr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12"/>
          <p:cNvSpPr txBox="1">
            <a:spLocks noGrp="1"/>
          </p:cNvSpPr>
          <p:nvPr>
            <p:ph type="subTitle" idx="5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4" name="Google Shape;284;p12"/>
          <p:cNvSpPr txBox="1">
            <a:spLocks noGrp="1"/>
          </p:cNvSpPr>
          <p:nvPr>
            <p:ph type="subTitle" idx="6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5" name="Google Shape;285;p12"/>
          <p:cNvSpPr txBox="1">
            <a:spLocks noGrp="1"/>
          </p:cNvSpPr>
          <p:nvPr>
            <p:ph type="subTitle" idx="7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6" name="Google Shape;286;p12"/>
          <p:cNvSpPr txBox="1">
            <a:spLocks noGrp="1"/>
          </p:cNvSpPr>
          <p:nvPr>
            <p:ph type="subTitle" idx="8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BLANK_1_1_1_1_1_1_1_1"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>
            <a:spLocks noGrp="1"/>
          </p:cNvSpPr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sz="7200" i="1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>
            <a:spLocks noGrp="1"/>
          </p:cNvSpPr>
          <p:nvPr>
            <p:ph type="body" idx="1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marL="91440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marL="137160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marL="182880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marL="228600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marL="274320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marL="320040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marL="365760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marL="411480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2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13"/>
          <p:cNvSpPr txBox="1">
            <a:spLocks noGrp="1"/>
          </p:cNvSpPr>
          <p:nvPr>
            <p:ph type="title" idx="3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BLANK_1_1_1_1_1_1_1_1_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93" name="Google Shape;393;p14"/>
          <p:cNvSpPr txBox="1">
            <a:spLocks noGrp="1"/>
          </p:cNvSpPr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4"/>
          <p:cNvSpPr txBox="1">
            <a:spLocks noGrp="1"/>
          </p:cNvSpPr>
          <p:nvPr>
            <p:ph type="body" idx="1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228600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4"/>
          <p:cNvSpPr txBox="1">
            <a:spLocks noGrp="1"/>
          </p:cNvSpPr>
          <p:nvPr>
            <p:ph type="title" idx="2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4"/>
          <p:cNvSpPr txBox="1">
            <a:spLocks noGrp="1"/>
          </p:cNvSpPr>
          <p:nvPr>
            <p:ph type="title" idx="3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BLANK_1_1_1_1_1_1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>
            <a:spLocks noGrp="1"/>
          </p:cNvSpPr>
          <p:nvPr>
            <p:ph type="body" idx="1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489" name="Google Shape;489;p15"/>
          <p:cNvSpPr txBox="1">
            <a:spLocks noGrp="1"/>
          </p:cNvSpPr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otes ">
  <p:cSld name="CUSTOM_2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584" name="Google Shape;584;p16"/>
          <p:cNvSpPr txBox="1">
            <a:spLocks noGrp="1"/>
          </p:cNvSpPr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6"/>
          <p:cNvSpPr txBox="1">
            <a:spLocks noGrp="1"/>
          </p:cNvSpPr>
          <p:nvPr>
            <p:ph type="subTitle" idx="1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6"/>
          <p:cNvSpPr txBox="1">
            <a:spLocks noGrp="1"/>
          </p:cNvSpPr>
          <p:nvPr>
            <p:ph type="subTitle" idx="2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16"/>
          <p:cNvSpPr txBox="1">
            <a:spLocks noGrp="1"/>
          </p:cNvSpPr>
          <p:nvPr>
            <p:ph type="title" idx="3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16"/>
          <p:cNvSpPr txBox="1">
            <a:spLocks noGrp="1"/>
          </p:cNvSpPr>
          <p:nvPr>
            <p:ph type="subTitle" idx="4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6"/>
          <p:cNvSpPr txBox="1">
            <a:spLocks noGrp="1"/>
          </p:cNvSpPr>
          <p:nvPr>
            <p:ph type="subTitle" idx="5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16"/>
          <p:cNvSpPr txBox="1">
            <a:spLocks noGrp="1"/>
          </p:cNvSpPr>
          <p:nvPr>
            <p:ph type="title" idx="6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16"/>
          <p:cNvSpPr txBox="1">
            <a:spLocks noGrp="1"/>
          </p:cNvSpPr>
          <p:nvPr>
            <p:ph type="subTitle" idx="7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16"/>
          <p:cNvSpPr txBox="1">
            <a:spLocks noGrp="1"/>
          </p:cNvSpPr>
          <p:nvPr>
            <p:ph type="subTitle" idx="8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16"/>
          <p:cNvSpPr txBox="1">
            <a:spLocks noGrp="1"/>
          </p:cNvSpPr>
          <p:nvPr>
            <p:ph type="subTitle" idx="9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6"/>
          <p:cNvSpPr txBox="1">
            <a:spLocks noGrp="1"/>
          </p:cNvSpPr>
          <p:nvPr>
            <p:ph type="subTitle" idx="13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16"/>
          <p:cNvSpPr txBox="1">
            <a:spLocks noGrp="1"/>
          </p:cNvSpPr>
          <p:nvPr>
            <p:ph type="subTitle" idx="14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16"/>
          <p:cNvSpPr txBox="1">
            <a:spLocks noGrp="1"/>
          </p:cNvSpPr>
          <p:nvPr>
            <p:ph type="subTitle" idx="15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16"/>
          <p:cNvSpPr txBox="1">
            <a:spLocks noGrp="1"/>
          </p:cNvSpPr>
          <p:nvPr>
            <p:ph type="subTitle" idx="16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6"/>
          <p:cNvSpPr txBox="1">
            <a:spLocks noGrp="1"/>
          </p:cNvSpPr>
          <p:nvPr>
            <p:ph type="subTitle" idx="17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title and Note">
  <p:cSld name="CUSTOM_1_1_2_2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>
            <a:spLocks noGrp="1"/>
          </p:cNvSpPr>
          <p:nvPr>
            <p:ph type="body" idx="1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>
            <a:endParaRPr/>
          </a:p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17"/>
          <p:cNvSpPr txBox="1">
            <a:spLocks noGrp="1"/>
          </p:cNvSpPr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3" name="Google Shape;613;p17"/>
          <p:cNvSpPr txBox="1">
            <a:spLocks noGrp="1"/>
          </p:cNvSpPr>
          <p:nvPr>
            <p:ph type="subTitle" idx="2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7"/>
          <p:cNvSpPr txBox="1">
            <a:spLocks noGrp="1"/>
          </p:cNvSpPr>
          <p:nvPr>
            <p:ph type="subTitle" idx="3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spcFirstLastPara="1" wrap="square" lIns="182875" tIns="18287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6 Notes">
  <p:cSld name="CUSTOM_1_1_2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>
            <a:spLocks noGrp="1"/>
          </p:cNvSpPr>
          <p:nvPr>
            <p:ph type="subTitle" idx="1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7" name="Google Shape;617;p18"/>
          <p:cNvSpPr txBox="1">
            <a:spLocks noGrp="1"/>
          </p:cNvSpPr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18"/>
          <p:cNvSpPr txBox="1">
            <a:spLocks noGrp="1"/>
          </p:cNvSpPr>
          <p:nvPr>
            <p:ph type="title" idx="2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619" name="Google Shape;619;p18"/>
          <p:cNvSpPr txBox="1">
            <a:spLocks noGrp="1"/>
          </p:cNvSpPr>
          <p:nvPr>
            <p:ph type="title" idx="3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620" name="Google Shape;620;p18"/>
          <p:cNvSpPr txBox="1">
            <a:spLocks noGrp="1"/>
          </p:cNvSpPr>
          <p:nvPr>
            <p:ph type="title" idx="4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621" name="Google Shape;621;p18"/>
          <p:cNvSpPr txBox="1">
            <a:spLocks noGrp="1"/>
          </p:cNvSpPr>
          <p:nvPr>
            <p:ph type="title" idx="5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622" name="Google Shape;622;p18"/>
          <p:cNvSpPr txBox="1">
            <a:spLocks noGrp="1"/>
          </p:cNvSpPr>
          <p:nvPr>
            <p:ph type="title" idx="6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>
            <a:spLocks noGrp="1"/>
          </p:cNvSpPr>
          <p:nvPr>
            <p:ph type="title" idx="7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18"/>
          <p:cNvSpPr txBox="1">
            <a:spLocks noGrp="1"/>
          </p:cNvSpPr>
          <p:nvPr>
            <p:ph type="title" idx="8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8"/>
          <p:cNvSpPr txBox="1">
            <a:spLocks noGrp="1"/>
          </p:cNvSpPr>
          <p:nvPr>
            <p:ph type="subTitle" idx="9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8"/>
          <p:cNvSpPr txBox="1">
            <a:spLocks noGrp="1"/>
          </p:cNvSpPr>
          <p:nvPr>
            <p:ph type="subTitle" idx="13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18"/>
          <p:cNvSpPr txBox="1">
            <a:spLocks noGrp="1"/>
          </p:cNvSpPr>
          <p:nvPr>
            <p:ph type="subTitle" idx="14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18"/>
          <p:cNvSpPr txBox="1">
            <a:spLocks noGrp="1"/>
          </p:cNvSpPr>
          <p:nvPr>
            <p:ph type="subTitle" idx="15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8"/>
          <p:cNvSpPr txBox="1">
            <a:spLocks noGrp="1"/>
          </p:cNvSpPr>
          <p:nvPr>
            <p:ph type="subTitle" idx="16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BLANK_1_1_1_2">
    <p:bg>
      <p:bgPr>
        <a:solidFill>
          <a:schemeClr val="lt2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>
            <a:spLocks noGrp="1"/>
          </p:cNvSpPr>
          <p:nvPr>
            <p:ph type="body" idx="1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>
            <a:spLocks noGrp="1"/>
          </p:cNvSpPr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4" name="Google Shape;724;p19"/>
          <p:cNvSpPr txBox="1">
            <a:spLocks noGrp="1"/>
          </p:cNvSpPr>
          <p:nvPr>
            <p:ph type="title" idx="2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body" idx="3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26" name="Google Shape;726;p19"/>
          <p:cNvSpPr txBox="1">
            <a:spLocks noGrp="1"/>
          </p:cNvSpPr>
          <p:nvPr>
            <p:ph type="title" idx="4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9"/>
          <p:cNvSpPr txBox="1">
            <a:spLocks noGrp="1"/>
          </p:cNvSpPr>
          <p:nvPr>
            <p:ph type="body" idx="5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28" name="Google Shape;728;p19"/>
          <p:cNvSpPr txBox="1">
            <a:spLocks noGrp="1"/>
          </p:cNvSpPr>
          <p:nvPr>
            <p:ph type="title" idx="6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19"/>
          <p:cNvSpPr txBox="1">
            <a:spLocks noGrp="1"/>
          </p:cNvSpPr>
          <p:nvPr>
            <p:ph type="body" idx="7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30" name="Google Shape;730;p19"/>
          <p:cNvSpPr txBox="1">
            <a:spLocks noGrp="1"/>
          </p:cNvSpPr>
          <p:nvPr>
            <p:ph type="title" idx="8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 Agenda 1">
  <p:cSld name="BLANK_1_1_1_1_1_1_1_1_1_3">
    <p:bg>
      <p:bgPr>
        <a:solidFill>
          <a:schemeClr val="lt1"/>
        </a:solid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rot="10800000" flipH="1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>
            <a:spLocks noGrp="1"/>
          </p:cNvSpPr>
          <p:nvPr>
            <p:ph type="body" idx="1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3" name="Google Shape;833;p20"/>
          <p:cNvSpPr txBox="1">
            <a:spLocks noGrp="1"/>
          </p:cNvSpPr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20"/>
          <p:cNvSpPr txBox="1">
            <a:spLocks noGrp="1"/>
          </p:cNvSpPr>
          <p:nvPr>
            <p:ph type="title" idx="2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>
            <a:endParaRPr/>
          </a:p>
        </p:txBody>
      </p:sp>
      <p:sp>
        <p:nvSpPr>
          <p:cNvPr id="835" name="Google Shape;835;p20"/>
          <p:cNvSpPr txBox="1">
            <a:spLocks noGrp="1"/>
          </p:cNvSpPr>
          <p:nvPr>
            <p:ph type="body" idx="3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36" name="Google Shape;836;p20"/>
          <p:cNvSpPr txBox="1">
            <a:spLocks noGrp="1"/>
          </p:cNvSpPr>
          <p:nvPr>
            <p:ph type="title" idx="4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>
            <a:endParaRPr/>
          </a:p>
        </p:txBody>
      </p:sp>
      <p:sp>
        <p:nvSpPr>
          <p:cNvPr id="837" name="Google Shape;837;p20"/>
          <p:cNvSpPr txBox="1">
            <a:spLocks noGrp="1"/>
          </p:cNvSpPr>
          <p:nvPr>
            <p:ph type="body" idx="5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38" name="Google Shape;838;p20"/>
          <p:cNvSpPr txBox="1">
            <a:spLocks noGrp="1"/>
          </p:cNvSpPr>
          <p:nvPr>
            <p:ph type="title" idx="6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20"/>
          <p:cNvSpPr txBox="1">
            <a:spLocks noGrp="1"/>
          </p:cNvSpPr>
          <p:nvPr>
            <p:ph type="subTitle" idx="7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0" name="Google Shape;840;p20"/>
          <p:cNvSpPr txBox="1">
            <a:spLocks noGrp="1"/>
          </p:cNvSpPr>
          <p:nvPr>
            <p:ph type="title" idx="8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20"/>
          <p:cNvSpPr txBox="1">
            <a:spLocks noGrp="1"/>
          </p:cNvSpPr>
          <p:nvPr>
            <p:ph type="subTitle" idx="9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2" name="Google Shape;842;p20"/>
          <p:cNvSpPr txBox="1">
            <a:spLocks noGrp="1"/>
          </p:cNvSpPr>
          <p:nvPr>
            <p:ph type="body" idx="13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rterly Goal">
  <p:cSld name="CUSTOM_1_1_3_1_2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54" name="Google Shape;854;p21"/>
          <p:cNvSpPr txBox="1">
            <a:spLocks noGrp="1"/>
          </p:cNvSpPr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21"/>
          <p:cNvSpPr txBox="1">
            <a:spLocks noGrp="1"/>
          </p:cNvSpPr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21"/>
          <p:cNvSpPr txBox="1">
            <a:spLocks noGrp="1"/>
          </p:cNvSpPr>
          <p:nvPr>
            <p:ph type="title" idx="2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57" name="Google Shape;857;p21"/>
          <p:cNvSpPr txBox="1">
            <a:spLocks noGrp="1"/>
          </p:cNvSpPr>
          <p:nvPr>
            <p:ph type="body" idx="3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58" name="Google Shape;858;p21"/>
          <p:cNvSpPr txBox="1">
            <a:spLocks noGrp="1"/>
          </p:cNvSpPr>
          <p:nvPr>
            <p:ph type="title" idx="4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59" name="Google Shape;859;p21"/>
          <p:cNvSpPr txBox="1">
            <a:spLocks noGrp="1"/>
          </p:cNvSpPr>
          <p:nvPr>
            <p:ph type="body" idx="5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60" name="Google Shape;860;p21"/>
          <p:cNvSpPr txBox="1">
            <a:spLocks noGrp="1"/>
          </p:cNvSpPr>
          <p:nvPr>
            <p:ph type="title" idx="6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61" name="Google Shape;861;p21"/>
          <p:cNvSpPr txBox="1">
            <a:spLocks noGrp="1"/>
          </p:cNvSpPr>
          <p:nvPr>
            <p:ph type="body" idx="7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62" name="Google Shape;862;p21"/>
          <p:cNvSpPr txBox="1">
            <a:spLocks noGrp="1"/>
          </p:cNvSpPr>
          <p:nvPr>
            <p:ph type="title" idx="8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63" name="Google Shape;863;p21"/>
          <p:cNvSpPr txBox="1">
            <a:spLocks noGrp="1"/>
          </p:cNvSpPr>
          <p:nvPr>
            <p:ph type="body" idx="9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64" name="Google Shape;864;p21"/>
          <p:cNvSpPr txBox="1">
            <a:spLocks noGrp="1"/>
          </p:cNvSpPr>
          <p:nvPr>
            <p:ph type="title" idx="13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65" name="Google Shape;865;p21"/>
          <p:cNvSpPr txBox="1">
            <a:spLocks noGrp="1"/>
          </p:cNvSpPr>
          <p:nvPr>
            <p:ph type="body" idx="14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66" name="Google Shape;866;p21"/>
          <p:cNvSpPr txBox="1">
            <a:spLocks noGrp="1"/>
          </p:cNvSpPr>
          <p:nvPr>
            <p:ph type="title" idx="15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67" name="Google Shape;867;p21"/>
          <p:cNvSpPr txBox="1">
            <a:spLocks noGrp="1"/>
          </p:cNvSpPr>
          <p:nvPr>
            <p:ph type="body" idx="16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ackground Title">
  <p:cSld name="CUSTOM_1_1_1_1_1_2">
    <p:bg>
      <p:bgPr>
        <a:solidFill>
          <a:schemeClr val="accent3"/>
        </a:solidFill>
        <a:effectLst/>
      </p:bgPr>
    </p:bg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avLst/>
            <a:gdLst/>
            <a:ahLst/>
            <a:cxnLst/>
            <a:rect l="l" t="t" r="r" b="b"/>
            <a:pathLst>
              <a:path w="57150" h="52832" extrusionOk="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>
            <a:spLocks noGrp="1"/>
          </p:cNvSpPr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72" name="Google Shape;872;p22"/>
          <p:cNvSpPr txBox="1">
            <a:spLocks noGrp="1"/>
          </p:cNvSpPr>
          <p:nvPr>
            <p:ph type="body" idx="1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873" name="Google Shape;873;p22"/>
          <p:cNvSpPr txBox="1">
            <a:spLocks noGrp="1"/>
          </p:cNvSpPr>
          <p:nvPr>
            <p:ph type="subTitle" idx="2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otes with dark background">
  <p:cSld name="CUSTOM_1_1_1_4">
    <p:bg>
      <p:bgPr>
        <a:solidFill>
          <a:schemeClr val="lt1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1" name="Google Shape;881;p23"/>
          <p:cNvSpPr txBox="1">
            <a:spLocks noGrp="1"/>
          </p:cNvSpPr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2" name="Google Shape;882;p23"/>
          <p:cNvSpPr txBox="1">
            <a:spLocks noGrp="1"/>
          </p:cNvSpPr>
          <p:nvPr>
            <p:ph type="title" idx="2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3" name="Google Shape;883;p23"/>
          <p:cNvSpPr txBox="1">
            <a:spLocks noGrp="1"/>
          </p:cNvSpPr>
          <p:nvPr>
            <p:ph type="title" idx="3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4" name="Google Shape;884;p23"/>
          <p:cNvSpPr txBox="1">
            <a:spLocks noGrp="1"/>
          </p:cNvSpPr>
          <p:nvPr>
            <p:ph type="title" idx="4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5" name="Google Shape;885;p23"/>
          <p:cNvSpPr txBox="1">
            <a:spLocks noGrp="1"/>
          </p:cNvSpPr>
          <p:nvPr>
            <p:ph type="title" idx="5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Subtitle - Alt 1">
  <p:cSld name="CUSTOM_1_1_3_1_3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>
            <a:spLocks noGrp="1"/>
          </p:cNvSpPr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7" name="Google Shape;917;p24"/>
          <p:cNvSpPr txBox="1">
            <a:spLocks noGrp="1"/>
          </p:cNvSpPr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24"/>
          <p:cNvSpPr txBox="1">
            <a:spLocks noGrp="1"/>
          </p:cNvSpPr>
          <p:nvPr>
            <p:ph type="subTitle" idx="2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24"/>
          <p:cNvSpPr txBox="1">
            <a:spLocks noGrp="1"/>
          </p:cNvSpPr>
          <p:nvPr>
            <p:ph type="subTitle" idx="3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24"/>
          <p:cNvSpPr txBox="1">
            <a:spLocks noGrp="1"/>
          </p:cNvSpPr>
          <p:nvPr>
            <p:ph type="subTitle" idx="4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24"/>
          <p:cNvSpPr txBox="1">
            <a:spLocks noGrp="1"/>
          </p:cNvSpPr>
          <p:nvPr>
            <p:ph type="subTitle" idx="5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24"/>
          <p:cNvSpPr txBox="1">
            <a:spLocks noGrp="1"/>
          </p:cNvSpPr>
          <p:nvPr>
            <p:ph type="body" idx="6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923" name="Google Shape;923;p24"/>
          <p:cNvSpPr txBox="1">
            <a:spLocks noGrp="1"/>
          </p:cNvSpPr>
          <p:nvPr>
            <p:ph type="body" idx="7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924" name="Google Shape;924;p24"/>
          <p:cNvSpPr txBox="1">
            <a:spLocks noGrp="1"/>
          </p:cNvSpPr>
          <p:nvPr>
            <p:ph type="body" idx="8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925" name="Google Shape;925;p24"/>
          <p:cNvSpPr txBox="1">
            <a:spLocks noGrp="1"/>
          </p:cNvSpPr>
          <p:nvPr>
            <p:ph type="body" idx="9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28" name="Google Shape;928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7" name="Google Shape;937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2" name="Google Shape;942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48" name="Google Shape;948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7" name="Google Shape;957;p36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8" name="Google Shape;958;p36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9" name="Google Shape;959;p36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0" name="Google Shape;960;p36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1" name="Google Shape;961;p36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2" name="Google Shape;962;p36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66" name="Google Shape;966;p37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9" name="Google Shape;969;p38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70" name="Google Shape;970;p38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71" name="Google Shape;971;p38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38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75" name="Google Shape;975;p39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76" name="Google Shape;976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7" name="Google Shape;977;p39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39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9" name="Google Shape;979;p39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0" name="Google Shape;980;p39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4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86" name="Google Shape;986;p4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89" name="Google Shape;98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4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91" name="Google Shape;991;p4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94" name="Google Shape;994;p4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97" name="Google Shape;997;p4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99" name="Google Shape;99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00" name="Google Shape;1000;p4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1" name="Google Shape;1001;p4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2" name="Google Shape;1002;p4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3" name="Google Shape;1013;p4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/>
        </p:nvSpPr>
        <p:spPr>
          <a:xfrm>
            <a:off x="136200" y="809750"/>
            <a:ext cx="8871600" cy="15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Manrope"/>
                <a:cs typeface="Manrope"/>
                <a:sym typeface="Manrope"/>
              </a:rPr>
              <a:t>HMAFP Course Project</a:t>
            </a:r>
            <a:b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Manrope"/>
                <a:cs typeface="Manrope"/>
                <a:sym typeface="Manrope"/>
              </a:rPr>
            </a:b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Manrope"/>
                <a:cs typeface="Manrope"/>
                <a:sym typeface="Manrope"/>
              </a:rPr>
              <a:t> Review Presentation</a:t>
            </a:r>
            <a:b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Manrope"/>
                <a:cs typeface="Manrope"/>
                <a:sym typeface="Manrope"/>
              </a:rPr>
            </a:b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Manrope"/>
                <a:cs typeface="Manrope"/>
                <a:sym typeface="Manrope"/>
              </a:rPr>
              <a:t>Topic:Design and CFD Analysis of Kaplan Turbines with &amp; without Blade Twist and their Comparative Analysis and Validation 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Manrope"/>
              <a:cs typeface="Manrope"/>
              <a:sym typeface="Manrope"/>
            </a:endParaRPr>
          </a:p>
        </p:txBody>
      </p:sp>
      <p:pic>
        <p:nvPicPr>
          <p:cNvPr id="1021" name="Google Shape;102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70517" cy="981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45"/>
          <p:cNvSpPr txBox="1"/>
          <p:nvPr/>
        </p:nvSpPr>
        <p:spPr>
          <a:xfrm>
            <a:off x="1159800" y="-77049"/>
            <a:ext cx="68244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Department of Mechanical Engineering</a:t>
            </a:r>
            <a:br>
              <a:rPr lang="en" sz="24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" sz="2400" b="1" dirty="0"/>
              <a:t>Vishwakarma Institute of Technology, Pune.</a:t>
            </a: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1023" name="Google Shape;1023;p45"/>
          <p:cNvSpPr txBox="1"/>
          <p:nvPr/>
        </p:nvSpPr>
        <p:spPr>
          <a:xfrm>
            <a:off x="357300" y="2157613"/>
            <a:ext cx="8429400" cy="24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6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629D6-1BF7-A039-2CE0-AA6BB4C7FBE2}"/>
              </a:ext>
            </a:extLst>
          </p:cNvPr>
          <p:cNvSpPr txBox="1"/>
          <p:nvPr/>
        </p:nvSpPr>
        <p:spPr>
          <a:xfrm>
            <a:off x="329453" y="2939490"/>
            <a:ext cx="40367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Batch 2 Group 2 </a:t>
            </a:r>
          </a:p>
          <a:p>
            <a:endParaRPr lang="en-US" b="1" dirty="0"/>
          </a:p>
          <a:p>
            <a:r>
              <a:rPr lang="en-US" dirty="0"/>
              <a:t>Aarya Velankar </a:t>
            </a:r>
          </a:p>
          <a:p>
            <a:r>
              <a:rPr lang="en-US" dirty="0"/>
              <a:t>Tanishq Chavan </a:t>
            </a:r>
          </a:p>
          <a:p>
            <a:r>
              <a:rPr lang="en-US" dirty="0" err="1"/>
              <a:t>Rugwed</a:t>
            </a:r>
            <a:r>
              <a:rPr lang="en-US" dirty="0"/>
              <a:t> </a:t>
            </a:r>
            <a:r>
              <a:rPr lang="en-US" dirty="0" err="1"/>
              <a:t>Ushir</a:t>
            </a:r>
            <a:endParaRPr lang="en-US" dirty="0"/>
          </a:p>
          <a:p>
            <a:r>
              <a:rPr lang="en-US" dirty="0"/>
              <a:t>Krishna Vyas</a:t>
            </a:r>
          </a:p>
          <a:p>
            <a:r>
              <a:rPr lang="en-US" dirty="0"/>
              <a:t>Sarvesh Suryavanshi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6D86E-745E-853D-18F3-481FF7640FC3}"/>
              </a:ext>
            </a:extLst>
          </p:cNvPr>
          <p:cNvSpPr txBox="1"/>
          <p:nvPr/>
        </p:nvSpPr>
        <p:spPr>
          <a:xfrm>
            <a:off x="5867400" y="2939490"/>
            <a:ext cx="2436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Guide :</a:t>
            </a:r>
          </a:p>
          <a:p>
            <a:r>
              <a:rPr lang="en-US" sz="1400" dirty="0">
                <a:solidFill>
                  <a:schemeClr val="bg1"/>
                </a:solidFill>
              </a:rPr>
              <a:t>Prof. Dr. Sachin </a:t>
            </a:r>
            <a:r>
              <a:rPr lang="en-US" sz="1400" dirty="0" err="1">
                <a:solidFill>
                  <a:schemeClr val="bg1"/>
                </a:solidFill>
              </a:rPr>
              <a:t>Komble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6"/>
          <p:cNvSpPr txBox="1">
            <a:spLocks noGrp="1"/>
          </p:cNvSpPr>
          <p:nvPr>
            <p:ph type="body" idx="1"/>
          </p:nvPr>
        </p:nvSpPr>
        <p:spPr>
          <a:xfrm>
            <a:off x="675800" y="1240325"/>
            <a:ext cx="7657878" cy="3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Introduction</a:t>
            </a:r>
            <a:endParaRPr sz="1800" dirty="0"/>
          </a:p>
          <a:p>
            <a:pPr marL="45720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Objective</a:t>
            </a:r>
            <a:endParaRPr sz="1800" dirty="0"/>
          </a:p>
          <a:p>
            <a:pPr marL="45720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Literature Survey</a:t>
            </a:r>
            <a:endParaRPr sz="1800" dirty="0"/>
          </a:p>
          <a:p>
            <a:pPr lvl="0" indent="-342900">
              <a:lnSpc>
                <a:spcPct val="180000"/>
              </a:lnSpc>
              <a:buSzPts val="1800"/>
            </a:pPr>
            <a:r>
              <a:rPr lang="en-US" sz="1800" dirty="0"/>
              <a:t>Calculations for Common Turbine Inputs and Assumed Values </a:t>
            </a:r>
          </a:p>
          <a:p>
            <a:pPr lvl="0" indent="-342900">
              <a:lnSpc>
                <a:spcPct val="180000"/>
              </a:lnSpc>
              <a:buSzPts val="1800"/>
            </a:pPr>
            <a:r>
              <a:rPr lang="en-US" sz="1800" dirty="0"/>
              <a:t>CAD</a:t>
            </a:r>
          </a:p>
          <a:p>
            <a:pPr lvl="0" indent="-342900">
              <a:lnSpc>
                <a:spcPct val="180000"/>
              </a:lnSpc>
              <a:buSzPts val="1800"/>
            </a:pPr>
            <a:r>
              <a:rPr lang="en-US" sz="1800" dirty="0"/>
              <a:t>CFD Simulation</a:t>
            </a:r>
            <a:endParaRPr sz="1800" dirty="0"/>
          </a:p>
          <a:p>
            <a:pPr marL="45720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Results and Conclusions</a:t>
            </a:r>
            <a:endParaRPr sz="1800" dirty="0"/>
          </a:p>
        </p:txBody>
      </p:sp>
      <p:sp>
        <p:nvSpPr>
          <p:cNvPr id="1029" name="Google Shape;1029;p46"/>
          <p:cNvSpPr txBox="1">
            <a:spLocks noGrp="1"/>
          </p:cNvSpPr>
          <p:nvPr>
            <p:ph type="title"/>
          </p:nvPr>
        </p:nvSpPr>
        <p:spPr>
          <a:xfrm rot="-982">
            <a:off x="587746" y="495059"/>
            <a:ext cx="2100300" cy="5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anrope Light"/>
                <a:ea typeface="Manrope Light"/>
                <a:cs typeface="Manrope Light"/>
                <a:sym typeface="Manrope Light"/>
              </a:rPr>
              <a:t>Introduction</a:t>
            </a:r>
            <a:endParaRPr b="0"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035" name="Google Shape;1035;p47"/>
          <p:cNvSpPr txBox="1">
            <a:spLocks noGrp="1"/>
          </p:cNvSpPr>
          <p:nvPr>
            <p:ph type="body" idx="1"/>
          </p:nvPr>
        </p:nvSpPr>
        <p:spPr>
          <a:xfrm>
            <a:off x="311700" y="1045325"/>
            <a:ext cx="4520495" cy="43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Kaplan turbine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type of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axial flow water turbine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in hydroelectric power plants.</a:t>
            </a:r>
            <a:b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specially designed for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head and high flow rate water conditions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turbine operates similar to a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 propeller working in reverse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flowing water rotates the blades.</a:t>
            </a:r>
            <a:b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Kaplan turbines are widely used in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river-based hydropower projects like Bhakra-Nangal project , Hirakud Dam Project and Radhanagri Hydroelectric Scheme. </a:t>
            </a:r>
            <a:b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can achieve </a:t>
            </a:r>
            <a:r>
              <a:rPr lang="en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efficiencies greater than 90%</a:t>
            </a: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making them one of the most efficient hydraulic turbines.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4ABA5A-A059-0C6A-1C53-55A092AFF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984" y="1390368"/>
            <a:ext cx="2775260" cy="277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anrope Light"/>
                <a:ea typeface="Manrope Light"/>
                <a:cs typeface="Manrope Light"/>
                <a:sym typeface="Manrope Light"/>
              </a:rPr>
              <a:t>Objectives</a:t>
            </a:r>
            <a:endParaRPr b="0"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041" name="Google Shape;1041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718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design a </a:t>
            </a:r>
            <a:r>
              <a:rPr lang="en" sz="108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Kaplan turbine using theoretical design calculations</a:t>
            </a: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718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a </a:t>
            </a:r>
            <a:r>
              <a:rPr lang="en" sz="108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3D CAD model</a:t>
            </a: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turbine assembly and compare it with another model with different blade geometry based on user inputs </a:t>
            </a:r>
            <a:b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7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analyze the </a:t>
            </a:r>
            <a:r>
              <a:rPr lang="en" sz="108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 between theoretical performance and real-world behavior</a:t>
            </a: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7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use </a:t>
            </a:r>
            <a:r>
              <a:rPr lang="en" sz="108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 Fluid Dynamics (CFD)</a:t>
            </a: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study flow characteristics.</a:t>
            </a:r>
          </a:p>
          <a:p>
            <a:pPr marL="457200" lvl="0" indent="-297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endParaRPr lang="en" sz="10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7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Char char="●"/>
            </a:pPr>
            <a: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compare the performance of the 2 turbines which have similar use inputs but different blade geometries </a:t>
            </a:r>
            <a:b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</a:pPr>
            <a:br>
              <a:rPr lang="en" sz="108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anrope Light"/>
                <a:ea typeface="Manrope Light"/>
                <a:cs typeface="Manrope Light"/>
                <a:sym typeface="Manrope Light"/>
              </a:rPr>
              <a:t>Literature Survey Papers</a:t>
            </a:r>
            <a:endParaRPr b="0"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075" name="Google Shape;1075;p53"/>
          <p:cNvSpPr txBox="1"/>
          <p:nvPr/>
        </p:nvSpPr>
        <p:spPr>
          <a:xfrm>
            <a:off x="306750" y="4050925"/>
            <a:ext cx="85206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1076" name="Google Shape;1076;p53"/>
          <p:cNvGraphicFramePr/>
          <p:nvPr/>
        </p:nvGraphicFramePr>
        <p:xfrm>
          <a:off x="600075" y="1196325"/>
          <a:ext cx="7943850" cy="3407103"/>
        </p:xfrm>
        <a:graphic>
          <a:graphicData uri="http://schemas.openxmlformats.org/drawingml/2006/table">
            <a:tbl>
              <a:tblPr>
                <a:noFill/>
                <a:tableStyleId>{C4F6D9B3-0802-41FC-AE4C-F5073699BA23}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Paper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Year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Focus Area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Method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Key Result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Abeykoon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Kaplan turbine runner optimization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CFD + theoretical modeling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Efficiency improved to </a:t>
                      </a:r>
                      <a:r>
                        <a:rPr lang="en" sz="1100" b="1"/>
                        <a:t>93%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Arora et al.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Turbine erosion analysis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Field study + IEC standards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Identified erosion rates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Sondhiya et al.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Blade design optimization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CAD + CFD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5.43% power increase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Khoddami et al.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Sub-runner turbine design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CFD parametric analysis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Up to 41.7% efficiency improvement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Rehman et al.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~2017–18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Micro Kaplan turbine modeling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Analytical simulation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6.68 kW micro turbine design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77" name="Google Shape;1077;p5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23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6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1015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Calculations for Common Turbine Inputs and Assumed Values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435DE-F958-42C6-F269-5F2BADB7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44" y="1580520"/>
            <a:ext cx="5263865" cy="2827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809FC-7246-32F8-F0E4-0CEB1C14E7DC}"/>
              </a:ext>
            </a:extLst>
          </p:cNvPr>
          <p:cNvSpPr txBox="1"/>
          <p:nvPr/>
        </p:nvSpPr>
        <p:spPr>
          <a:xfrm>
            <a:off x="6088566" y="1959662"/>
            <a:ext cx="2869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These were some assumed values for performance variables of a Kaplan Turbine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These values were kept the same in case of both the turbines we compared so as to get the difference in performance based solely on the blade geometries</a:t>
            </a:r>
            <a:endParaRPr lang="en-IN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B48A24FE-76B4-8A59-9572-9E0BD575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61">
            <a:extLst>
              <a:ext uri="{FF2B5EF4-FFF2-40B4-BE49-F238E27FC236}">
                <a16:creationId xmlns:a16="http://schemas.microsoft.com/office/drawing/2014/main" id="{8B7D2641-41F6-E44D-A505-A62AB12815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1015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Calculations for Common Turbine Inputs and Assumed Values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6B1E6-3390-DCF8-3713-6745C68CADC2}"/>
              </a:ext>
            </a:extLst>
          </p:cNvPr>
          <p:cNvSpPr txBox="1"/>
          <p:nvPr/>
        </p:nvSpPr>
        <p:spPr>
          <a:xfrm>
            <a:off x="5523571" y="1625126"/>
            <a:ext cx="28695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These were the values that we got after calculations for design characteristics and velocities of Kaplan turbine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These values are considered as theoretical and will help us validate our CFD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The relevant parameter values will be used for validation i.e. for example , we will consider absolute velocity for analysis and comparison instead of flow or whirl velocities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A256D-F0C8-EC19-C0D0-CD5ACB1EB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15" y="1155857"/>
            <a:ext cx="4244899" cy="37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4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B3688FFD-9667-3D3E-CC38-37BF28AD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2">
            <a:extLst>
              <a:ext uri="{FF2B5EF4-FFF2-40B4-BE49-F238E27FC236}">
                <a16:creationId xmlns:a16="http://schemas.microsoft.com/office/drawing/2014/main" id="{688C7DDB-18C9-3BDA-DA10-12F049122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4800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CAD </a:t>
            </a:r>
            <a:endParaRPr dirty="0"/>
          </a:p>
        </p:txBody>
      </p:sp>
      <p:sp>
        <p:nvSpPr>
          <p:cNvPr id="1139" name="Google Shape;1139;p62">
            <a:extLst>
              <a:ext uri="{FF2B5EF4-FFF2-40B4-BE49-F238E27FC236}">
                <a16:creationId xmlns:a16="http://schemas.microsoft.com/office/drawing/2014/main" id="{710F8208-AA9B-878D-6410-3C9E15283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9142"/>
            <a:ext cx="3829120" cy="609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CAD for Kaplan Turbine 1 with blades without twist throughout its height </a:t>
            </a:r>
            <a:endParaRPr dirty="0"/>
          </a:p>
        </p:txBody>
      </p:sp>
      <p:pic>
        <p:nvPicPr>
          <p:cNvPr id="1141" name="Google Shape;1141;p62">
            <a:extLst>
              <a:ext uri="{FF2B5EF4-FFF2-40B4-BE49-F238E27FC236}">
                <a16:creationId xmlns:a16="http://schemas.microsoft.com/office/drawing/2014/main" id="{5EA843A2-0E9A-FE0D-729D-825D67845B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501" y="1582551"/>
            <a:ext cx="3844319" cy="33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2555A9-2A50-9222-49E4-41D306C5D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582550"/>
            <a:ext cx="4154355" cy="3316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CC8DA-CB2D-7EC0-89FD-EEC043BEDC16}"/>
              </a:ext>
            </a:extLst>
          </p:cNvPr>
          <p:cNvSpPr txBox="1"/>
          <p:nvPr/>
        </p:nvSpPr>
        <p:spPr>
          <a:xfrm>
            <a:off x="4571999" y="1011043"/>
            <a:ext cx="37170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anrope" panose="020B0604020202020204" charset="0"/>
              </a:rPr>
              <a:t>CAD for Kaplan Turbine 2 using blades that twist throughout its height 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783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A2BF5B48-61E5-F838-2728-32C01FC6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2">
            <a:extLst>
              <a:ext uri="{FF2B5EF4-FFF2-40B4-BE49-F238E27FC236}">
                <a16:creationId xmlns:a16="http://schemas.microsoft.com/office/drawing/2014/main" id="{485A394C-77C7-EB5A-14CA-80021DC46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4800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CFD Simulation </a:t>
            </a:r>
            <a:endParaRPr dirty="0"/>
          </a:p>
        </p:txBody>
      </p:sp>
      <p:sp>
        <p:nvSpPr>
          <p:cNvPr id="1139" name="Google Shape;1139;p62">
            <a:extLst>
              <a:ext uri="{FF2B5EF4-FFF2-40B4-BE49-F238E27FC236}">
                <a16:creationId xmlns:a16="http://schemas.microsoft.com/office/drawing/2014/main" id="{5E21730B-8127-DCDF-6E2D-4560B28C44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1035"/>
            <a:ext cx="3829120" cy="467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Meshing   </a:t>
            </a:r>
            <a:endParaRPr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6F3DC-434A-A874-DE93-374FB63CC0E5}"/>
              </a:ext>
            </a:extLst>
          </p:cNvPr>
          <p:cNvSpPr txBox="1"/>
          <p:nvPr/>
        </p:nvSpPr>
        <p:spPr>
          <a:xfrm>
            <a:off x="4571999" y="1011043"/>
            <a:ext cx="3717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054D6-88C3-30A0-13D9-A1E92E5F1962}"/>
              </a:ext>
            </a:extLst>
          </p:cNvPr>
          <p:cNvSpPr txBox="1"/>
          <p:nvPr/>
        </p:nvSpPr>
        <p:spPr>
          <a:xfrm>
            <a:off x="379410" y="3813718"/>
            <a:ext cx="30182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Meshing details 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Mesh used = Tetrahedron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Maximum Node size = 0.16 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Minimum Node size = 1 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Number of nodes = 4,26,363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09954-8AF0-7E59-69C6-38415F2A8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94810"/>
            <a:ext cx="3502017" cy="2153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5824F4-5D07-8382-01D0-9F93C7186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037" y="3419999"/>
            <a:ext cx="2888578" cy="1624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A58001-BF2A-E68E-884C-5192DD3E2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037" y="1476242"/>
            <a:ext cx="3120038" cy="1755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B86F17-D634-CEFF-6DD6-DFB563396959}"/>
              </a:ext>
            </a:extLst>
          </p:cNvPr>
          <p:cNvSpPr txBox="1"/>
          <p:nvPr/>
        </p:nvSpPr>
        <p:spPr>
          <a:xfrm>
            <a:off x="4285787" y="1011042"/>
            <a:ext cx="1434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Simulation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A0AC5-4D1D-98FC-8AC7-B768A5A81B3D}"/>
              </a:ext>
            </a:extLst>
          </p:cNvPr>
          <p:cNvSpPr txBox="1"/>
          <p:nvPr/>
        </p:nvSpPr>
        <p:spPr>
          <a:xfrm>
            <a:off x="7519292" y="2244057"/>
            <a:ext cx="147939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Solver type :</a:t>
            </a:r>
          </a:p>
          <a:p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Pressure based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Absolute Velocity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K- epsilon solver</a:t>
            </a:r>
          </a:p>
          <a:p>
            <a:endParaRPr lang="en-US" sz="1200" dirty="0"/>
          </a:p>
          <a:p>
            <a:r>
              <a:rPr lang="en-US" sz="1200" dirty="0"/>
              <a:t>Solver specifications are kept same for both turbines 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0715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7919-4D1B-3A37-A580-A84A5F3A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600134"/>
          </a:xfrm>
        </p:spPr>
        <p:txBody>
          <a:bodyPr/>
          <a:lstStyle/>
          <a:p>
            <a:r>
              <a:rPr lang="en-IN" dirty="0"/>
              <a:t>Streamline Contours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4AFB78-F68C-027D-25EE-EC0C7C7A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9" y="1045159"/>
            <a:ext cx="2841181" cy="22853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03439A-0E41-C141-A989-8B8C7718B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111" y="1045157"/>
            <a:ext cx="2841181" cy="22853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F4A19C-2C13-BAF1-D1CF-0CECC204F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597" y="1045156"/>
            <a:ext cx="2675234" cy="2285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A35CC5-0070-4B56-EE32-5E4F6A9577D3}"/>
              </a:ext>
            </a:extLst>
          </p:cNvPr>
          <p:cNvSpPr txBox="1"/>
          <p:nvPr/>
        </p:nvSpPr>
        <p:spPr>
          <a:xfrm>
            <a:off x="215058" y="3392346"/>
            <a:ext cx="2841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shows the streamline flow inside the runner, indicating how water rotates and transfers energy to the blades.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62736-1F03-332C-683E-B6E5B3AFD2E1}"/>
              </a:ext>
            </a:extLst>
          </p:cNvPr>
          <p:cNvSpPr txBox="1"/>
          <p:nvPr/>
        </p:nvSpPr>
        <p:spPr>
          <a:xfrm>
            <a:off x="3429000" y="3453574"/>
            <a:ext cx="228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side view shows how water enters, flows through the turbine, and exits smoothly.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94978-FA72-1867-9930-31A44468DD13}"/>
              </a:ext>
            </a:extLst>
          </p:cNvPr>
          <p:cNvSpPr txBox="1"/>
          <p:nvPr/>
        </p:nvSpPr>
        <p:spPr>
          <a:xfrm>
            <a:off x="6380872" y="3402155"/>
            <a:ext cx="24346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image represents velocity distribution, where color variation indicates changes in flow speed and energy transfer.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870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DC9A36-CC83-FFB9-4ABF-E7573E1D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1" y="252762"/>
            <a:ext cx="2715331" cy="2318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9D8C61-F847-7C53-9DBE-7790E907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321" y="252762"/>
            <a:ext cx="2715331" cy="23189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27E49C-F536-481E-4011-A8711F148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281" y="252762"/>
            <a:ext cx="2825973" cy="23189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38E469-B028-85CD-8FB3-CDC3953A9104}"/>
              </a:ext>
            </a:extLst>
          </p:cNvPr>
          <p:cNvSpPr txBox="1"/>
          <p:nvPr/>
        </p:nvSpPr>
        <p:spPr>
          <a:xfrm>
            <a:off x="342533" y="2626629"/>
            <a:ext cx="24569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image shows pressure distribution inside the turbine, where high pressure at the inlet reduces as energy is extracted by the blades.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718F39-E7C3-0296-1777-4753F5712236}"/>
              </a:ext>
            </a:extLst>
          </p:cNvPr>
          <p:cNvSpPr txBox="1"/>
          <p:nvPr/>
        </p:nvSpPr>
        <p:spPr>
          <a:xfrm>
            <a:off x="3381176" y="2626629"/>
            <a:ext cx="21596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shows the flow of water through the turbine, where velocity increases near the blades indicating energy transfer.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B871F8-25AC-24F5-350F-9C281B1ED034}"/>
              </a:ext>
            </a:extLst>
          </p:cNvPr>
          <p:cNvSpPr txBox="1"/>
          <p:nvPr/>
        </p:nvSpPr>
        <p:spPr>
          <a:xfrm>
            <a:off x="6048601" y="2626629"/>
            <a:ext cx="2715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top view shows rotational flow inside the runner, highlighting how water interacts with blades to produce torque.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460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5EAF0626-99CD-1249-EF26-87310734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2">
            <a:extLst>
              <a:ext uri="{FF2B5EF4-FFF2-40B4-BE49-F238E27FC236}">
                <a16:creationId xmlns:a16="http://schemas.microsoft.com/office/drawing/2014/main" id="{2EB5DBBE-23E2-E4CF-8047-F22FA8C9E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22926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 </a:t>
            </a:r>
            <a:endParaRPr dirty="0"/>
          </a:p>
        </p:txBody>
      </p:sp>
      <p:sp>
        <p:nvSpPr>
          <p:cNvPr id="1139" name="Google Shape;1139;p62">
            <a:extLst>
              <a:ext uri="{FF2B5EF4-FFF2-40B4-BE49-F238E27FC236}">
                <a16:creationId xmlns:a16="http://schemas.microsoft.com/office/drawing/2014/main" id="{17DBEAD7-371B-6BC6-2C96-DB06118AF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740229"/>
            <a:ext cx="3829120" cy="609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Pressure and Velocity for Kaplan Turbine 1 with blades without twist throughout its height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6FA42-88A3-F53D-8830-4DFC6DB692D4}"/>
              </a:ext>
            </a:extLst>
          </p:cNvPr>
          <p:cNvSpPr txBox="1"/>
          <p:nvPr/>
        </p:nvSpPr>
        <p:spPr>
          <a:xfrm>
            <a:off x="4387312" y="826677"/>
            <a:ext cx="37170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anrope" panose="020B0604020202020204" charset="0"/>
              </a:rPr>
              <a:t>Pressure and Velocity for Kaplan Turbine 2 using blades that twist throughout its height 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06F58-382A-07B9-87AA-2B78FA7E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24" y="1349596"/>
            <a:ext cx="3758496" cy="1660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0EA26-0A45-A9AC-14C3-F4B27F6A9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51" y="3174380"/>
            <a:ext cx="3820445" cy="1576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534D8-6FA5-8AB4-07F0-85E119CF7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313" y="1349596"/>
            <a:ext cx="4374364" cy="1576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EB9979-77D0-57BD-F798-6920CE712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312" y="3174380"/>
            <a:ext cx="4378538" cy="15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7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CB500D66-3E17-3C78-AC46-8CF99918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2">
            <a:extLst>
              <a:ext uri="{FF2B5EF4-FFF2-40B4-BE49-F238E27FC236}">
                <a16:creationId xmlns:a16="http://schemas.microsoft.com/office/drawing/2014/main" id="{CE96B0CB-E270-56C9-9171-F00C1A17D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22926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and Conclusions  </a:t>
            </a:r>
            <a:endParaRPr dirty="0"/>
          </a:p>
        </p:txBody>
      </p:sp>
      <p:sp>
        <p:nvSpPr>
          <p:cNvPr id="1139" name="Google Shape;1139;p62">
            <a:extLst>
              <a:ext uri="{FF2B5EF4-FFF2-40B4-BE49-F238E27FC236}">
                <a16:creationId xmlns:a16="http://schemas.microsoft.com/office/drawing/2014/main" id="{30E3FCE1-656D-E0C8-D36D-6CC2A8DEA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2827214"/>
            <a:ext cx="7561062" cy="2733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We can see an increased velocity in turbine 2 which means energy from water is being more efficiently converted to KE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We can see a higher pressure drop in turbine 2 which means that a higher pressure difference is obtained which leads to a higher conversion of water energy to a pressure head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This shows that a better conversion of available energy is being done in the turbine by conversion to pressure head and velocity head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This leads to a better efficiency value than turbine 1 (increase of almost 20% is seen)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The negative pressure values indicate a turbulent flow with formation of whirls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Increased whirl velocity means more flow velocity which means more discharge i.e. this is analogous with the characteristics of axial flow turbines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515BD-CF38-6403-AA04-A7365F2B2E78}"/>
              </a:ext>
            </a:extLst>
          </p:cNvPr>
          <p:cNvSpPr txBox="1"/>
          <p:nvPr/>
        </p:nvSpPr>
        <p:spPr>
          <a:xfrm>
            <a:off x="4387312" y="826677"/>
            <a:ext cx="3717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438DB0-E2BC-EA4F-0C5B-87019A4A0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71949"/>
              </p:ext>
            </p:extLst>
          </p:nvPr>
        </p:nvGraphicFramePr>
        <p:xfrm>
          <a:off x="386040" y="826678"/>
          <a:ext cx="5784300" cy="1897084"/>
        </p:xfrm>
        <a:graphic>
          <a:graphicData uri="http://schemas.openxmlformats.org/drawingml/2006/table">
            <a:tbl>
              <a:tblPr firstRow="1" bandRow="1">
                <a:tableStyleId>{C4F6D9B3-0802-41FC-AE4C-F5073699BA23}</a:tableStyleId>
              </a:tblPr>
              <a:tblGrid>
                <a:gridCol w="1928100">
                  <a:extLst>
                    <a:ext uri="{9D8B030D-6E8A-4147-A177-3AD203B41FA5}">
                      <a16:colId xmlns:a16="http://schemas.microsoft.com/office/drawing/2014/main" val="2813890822"/>
                    </a:ext>
                  </a:extLst>
                </a:gridCol>
                <a:gridCol w="1928100">
                  <a:extLst>
                    <a:ext uri="{9D8B030D-6E8A-4147-A177-3AD203B41FA5}">
                      <a16:colId xmlns:a16="http://schemas.microsoft.com/office/drawing/2014/main" val="1035117811"/>
                    </a:ext>
                  </a:extLst>
                </a:gridCol>
                <a:gridCol w="1928100">
                  <a:extLst>
                    <a:ext uri="{9D8B030D-6E8A-4147-A177-3AD203B41FA5}">
                      <a16:colId xmlns:a16="http://schemas.microsoft.com/office/drawing/2014/main" val="905865978"/>
                    </a:ext>
                  </a:extLst>
                </a:gridCol>
              </a:tblGrid>
              <a:tr h="50233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Turbine without Blade Twist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Turbine with Blade Twist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82165"/>
                  </a:ext>
                </a:extLst>
              </a:tr>
              <a:tr h="502337">
                <a:tc>
                  <a:txBody>
                    <a:bodyPr/>
                    <a:lstStyle/>
                    <a:p>
                      <a:r>
                        <a:rPr lang="en-US" dirty="0"/>
                        <a:t>Velocity (m/s)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= 41.85 </a:t>
                      </a:r>
                    </a:p>
                    <a:p>
                      <a:r>
                        <a:rPr lang="en-US" dirty="0"/>
                        <a:t>Min = 11.63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= 122 </a:t>
                      </a:r>
                    </a:p>
                    <a:p>
                      <a:r>
                        <a:rPr lang="en-US" dirty="0"/>
                        <a:t>Min = 11.63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535818"/>
                  </a:ext>
                </a:extLst>
              </a:tr>
              <a:tr h="502337">
                <a:tc>
                  <a:txBody>
                    <a:bodyPr/>
                    <a:lstStyle/>
                    <a:p>
                      <a:r>
                        <a:rPr lang="en-US" dirty="0"/>
                        <a:t>Pressure (Pa)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= 300 </a:t>
                      </a:r>
                    </a:p>
                    <a:p>
                      <a:r>
                        <a:rPr lang="en-US" dirty="0"/>
                        <a:t>Min = - 1700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= 1000</a:t>
                      </a:r>
                    </a:p>
                    <a:p>
                      <a:r>
                        <a:rPr lang="en-US" dirty="0"/>
                        <a:t>Min = -3500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3055"/>
                  </a:ext>
                </a:extLst>
              </a:tr>
              <a:tr h="342604">
                <a:tc>
                  <a:txBody>
                    <a:bodyPr/>
                    <a:lstStyle/>
                    <a:p>
                      <a:r>
                        <a:rPr lang="en-US" dirty="0"/>
                        <a:t>Overall Efficiency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0.7648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0.9338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23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800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7" name="Google Shape;1147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8" name="Google Shape;114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875</Words>
  <Application>Microsoft Office PowerPoint</Application>
  <PresentationFormat>On-screen Show (16:9)</PresentationFormat>
  <Paragraphs>131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Manrope Medium</vt:lpstr>
      <vt:lpstr>Arial</vt:lpstr>
      <vt:lpstr>Manrope</vt:lpstr>
      <vt:lpstr>Manrope ExtraBold</vt:lpstr>
      <vt:lpstr>Anton</vt:lpstr>
      <vt:lpstr>Manrope Light</vt:lpstr>
      <vt:lpstr>Manrope SemiBold</vt:lpstr>
      <vt:lpstr>PAPER AGENDA</vt:lpstr>
      <vt:lpstr>PowerPoint Presentation</vt:lpstr>
      <vt:lpstr>CONTENTS</vt:lpstr>
      <vt:lpstr>Introduction</vt:lpstr>
      <vt:lpstr>Objectives</vt:lpstr>
      <vt:lpstr>Literature Survey Papers</vt:lpstr>
      <vt:lpstr>Calculations for Common Turbine Inputs and Assumed Values </vt:lpstr>
      <vt:lpstr>Calculations for Common Turbine Inputs and Assumed Values </vt:lpstr>
      <vt:lpstr>CAD </vt:lpstr>
      <vt:lpstr>CFD Simulation </vt:lpstr>
      <vt:lpstr>Streamline Contours</vt:lpstr>
      <vt:lpstr>PowerPoint Presentation</vt:lpstr>
      <vt:lpstr>Results  </vt:lpstr>
      <vt:lpstr>Results and Conclusions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Aarya Velankar</dc:creator>
  <cp:lastModifiedBy>Rugwed Ushir</cp:lastModifiedBy>
  <cp:revision>5</cp:revision>
  <dcterms:modified xsi:type="dcterms:W3CDTF">2026-05-05T04:29:44Z</dcterms:modified>
</cp:coreProperties>
</file>